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1F3A"/>
                </a:solidFill>
                <a:latin typeface="Arial"/>
              </a:rPr>
              <a:t>Cumulative Overrun Reduction Target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Overrun Reduction (%)</c:v>
                </c:pt>
              </c:strCache>
            </c:strRef>
          </c:tx>
          <c:spPr>
            <a:solidFill>
              <a:srgbClr val="2E86D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M2</c:v>
                  </c:pt>
                  <c:pt idx="1">
                    <c:v>M5</c:v>
                  </c:pt>
                  <c:pt idx="2">
                    <c:v>M8</c:v>
                  </c:pt>
                  <c:pt idx="3">
                    <c:v>M12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15</c:v>
                </c:pt>
                <c:pt idx="2">
                  <c:v>28</c:v>
                </c:pt>
                <c:pt idx="3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1F3A"/>
                </a:solidFill>
                <a:latin typeface="Arial"/>
              </a:rPr>
              <a:t>Budget Allocation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86DE"/>
              </a:solidFill>
              <a:effectLst/>
            </c:spPr>
          </c:dPt>
          <c:dPt>
            <c:idx val="1"/>
            <c:bubble3D val="0"/>
            <c:spPr>
              <a:solidFill>
                <a:srgbClr val="0B1F3A"/>
              </a:solidFill>
              <a:effectLst/>
            </c:spPr>
          </c:dPt>
          <c:dPt>
            <c:idx val="2"/>
            <c:bubble3D val="0"/>
            <c:spPr>
              <a:solidFill>
                <a:srgbClr val="F2A22C"/>
              </a:solidFill>
              <a:effectLst/>
            </c:spPr>
          </c:dPt>
          <c:dPt>
            <c:idx val="3"/>
            <c:bubble3D val="0"/>
            <c:spPr>
              <a:solidFill>
                <a:srgbClr val="C7CDD6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Engineering</c:v>
                </c:pt>
                <c:pt idx="1">
                  <c:v>Data &amp; ML</c:v>
                </c:pt>
                <c:pt idx="2">
                  <c:v>Ground Ops Integration</c:v>
                </c:pt>
                <c:pt idx="3">
                  <c:v>Contingency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42</c:v>
                </c:pt>
                <c:pt idx="1">
                  <c:v>28</c:v>
                </c:pt>
                <c:pt idx="2">
                  <c:v>18</c:v>
                </c:pt>
                <c:pt idx="3">
                  <c:v>12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B1F2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10294D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1005840"/>
            <a:ext cx="3931920" cy="1828800"/>
          </a:xfrm>
          <a:prstGeom prst="line">
            <a:avLst/>
          </a:prstGeom>
          <a:noFill/>
          <a:ln w="19050">
            <a:solidFill>
              <a:srgbClr val="AFD7F5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543800" y="960120"/>
            <a:ext cx="82296" cy="82296"/>
          </a:xfrm>
          <a:prstGeom prst="ellipse">
            <a:avLst/>
          </a:prstGeom>
          <a:solidFill>
            <a:srgbClr val="AFD7F5"/>
          </a:solidFill>
          <a:ln/>
        </p:spPr>
      </p:sp>
      <p:sp>
        <p:nvSpPr>
          <p:cNvPr id="6" name="Shape 4"/>
          <p:cNvSpPr/>
          <p:nvPr/>
        </p:nvSpPr>
        <p:spPr>
          <a:xfrm>
            <a:off x="8330184" y="1316736"/>
            <a:ext cx="82296" cy="82296"/>
          </a:xfrm>
          <a:prstGeom prst="ellipse">
            <a:avLst/>
          </a:prstGeom>
          <a:solidFill>
            <a:srgbClr val="AFD7F5"/>
          </a:solidFill>
          <a:ln/>
        </p:spPr>
      </p:sp>
      <p:sp>
        <p:nvSpPr>
          <p:cNvPr id="7" name="Shape 5"/>
          <p:cNvSpPr/>
          <p:nvPr/>
        </p:nvSpPr>
        <p:spPr>
          <a:xfrm>
            <a:off x="9116568" y="1618488"/>
            <a:ext cx="82296" cy="82296"/>
          </a:xfrm>
          <a:prstGeom prst="ellipse">
            <a:avLst/>
          </a:prstGeom>
          <a:solidFill>
            <a:srgbClr val="AFD7F5"/>
          </a:solidFill>
          <a:ln/>
        </p:spPr>
      </p:sp>
      <p:sp>
        <p:nvSpPr>
          <p:cNvPr id="8" name="Shape 6"/>
          <p:cNvSpPr/>
          <p:nvPr/>
        </p:nvSpPr>
        <p:spPr>
          <a:xfrm>
            <a:off x="9902952" y="1865376"/>
            <a:ext cx="82296" cy="82296"/>
          </a:xfrm>
          <a:prstGeom prst="ellipse">
            <a:avLst/>
          </a:prstGeom>
          <a:solidFill>
            <a:srgbClr val="AFD7F5"/>
          </a:solidFill>
          <a:ln/>
        </p:spPr>
      </p:sp>
      <p:sp>
        <p:nvSpPr>
          <p:cNvPr id="9" name="Shape 7"/>
          <p:cNvSpPr/>
          <p:nvPr/>
        </p:nvSpPr>
        <p:spPr>
          <a:xfrm>
            <a:off x="10689336" y="2057400"/>
            <a:ext cx="82296" cy="82296"/>
          </a:xfrm>
          <a:prstGeom prst="ellipse">
            <a:avLst/>
          </a:prstGeom>
          <a:solidFill>
            <a:srgbClr val="AFD7F5"/>
          </a:solidFill>
          <a:ln/>
        </p:spPr>
      </p:sp>
      <p:sp>
        <p:nvSpPr>
          <p:cNvPr id="10" name="Shape 8"/>
          <p:cNvSpPr/>
          <p:nvPr/>
        </p:nvSpPr>
        <p:spPr>
          <a:xfrm>
            <a:off x="10881360" y="2331720"/>
            <a:ext cx="201168" cy="201168"/>
          </a:xfrm>
          <a:prstGeom prst="ellipse">
            <a:avLst/>
          </a:prstGeom>
          <a:solidFill>
            <a:srgbClr val="F2A22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HACK 2.0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AFD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SUBMISSION DECK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Management Track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4892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D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Title: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Turnaround Optimization (PTO)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257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D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by: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Management Team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D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HACK 2.0  |  PROGRAM MANAGEMENT TRACK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856232" cy="329184"/>
          </a:xfrm>
          <a:prstGeom prst="roundRect">
            <a:avLst>
              <a:gd name="adj" fmla="val 50000"/>
            </a:avLst>
          </a:prstGeom>
          <a:solidFill>
            <a:srgbClr val="F2A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856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6675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Turnaround Delays Are Eroding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On-Time Performance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turnaround is the single largest source of controllable schedule variance. Manual coordination across fueling, cleaning, catering, and boarding crews creates blind spots that cascade into network-wide delays.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9136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min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turnaround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overrun (peak hrs)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379476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39136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₹210 Cr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0" y="44348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annual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delay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379476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39136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37760" y="443484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Delays traced to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gaps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21040" y="2286000"/>
            <a:ext cx="2743200" cy="2743200"/>
          </a:xfrm>
          <a:prstGeom prst="ellipse">
            <a:avLst/>
          </a:prstGeom>
          <a:solidFill>
            <a:srgbClr val="F4F7FB"/>
          </a:solidFill>
          <a:ln w="12700">
            <a:solidFill>
              <a:srgbClr val="AFD7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89720" y="3154680"/>
            <a:ext cx="1005840" cy="10058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3538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235440" y="20848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0" y="2084832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423280" y="27706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3280" y="2770632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423280" y="41422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3280" y="4142232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Catering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235440" y="48280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35440" y="4828032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Baggage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47600" y="41422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7600" y="4142232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047600" y="277063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7600" y="2770632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21040" y="5166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Uncoordinated ground service touchpoints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HACK 2.0  |  PROGRAM MANAGEMENT TRACK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99616" cy="329184"/>
          </a:xfrm>
          <a:prstGeom prst="roundRect">
            <a:avLst>
              <a:gd name="adj" fmla="val 50000"/>
            </a:avLst>
          </a:prstGeom>
          <a:solidFill>
            <a:srgbClr val="F2A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4996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Predictive, Single-Pane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Turnaround Control Tower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PTO fuses live flight, crew, and ground-service data into one predictive dashboard — flagging turnaround risk 20 minutes before it happens and auto-notifying the right ground team.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7FB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34472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4032504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4379976"/>
            <a:ext cx="2203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 forecasts turnaround risk from live inbound data.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64408" y="324612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7FB"/>
          </a:solidFill>
          <a:ln/>
        </p:spPr>
      </p:sp>
      <p:sp>
        <p:nvSpPr>
          <p:cNvPr id="12" name="Shape 10"/>
          <p:cNvSpPr/>
          <p:nvPr/>
        </p:nvSpPr>
        <p:spPr>
          <a:xfrm>
            <a:off x="3465576" y="34472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3465576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65576" y="4032504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65576" y="4379976"/>
            <a:ext cx="2203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dashboard replaces five siloed ground-ops tools.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71616" y="324612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7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34472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2A22C"/>
          </a:solidFill>
          <a:ln/>
        </p:spPr>
      </p:sp>
      <p:sp>
        <p:nvSpPr>
          <p:cNvPr id="18" name="Text 16"/>
          <p:cNvSpPr/>
          <p:nvPr/>
        </p:nvSpPr>
        <p:spPr>
          <a:xfrm>
            <a:off x="6272784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72784" y="4032504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72784" y="4379976"/>
            <a:ext cx="2203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Auto-notifies the right crew the moment a delay risk appears.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78824" y="324612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7FB"/>
          </a:solidFill>
          <a:ln/>
        </p:spPr>
      </p:sp>
      <p:sp>
        <p:nvSpPr>
          <p:cNvPr id="22" name="Shape 20"/>
          <p:cNvSpPr/>
          <p:nvPr/>
        </p:nvSpPr>
        <p:spPr>
          <a:xfrm>
            <a:off x="9079992" y="34472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</p:sp>
      <p:sp>
        <p:nvSpPr>
          <p:cNvPr id="23" name="Text 21"/>
          <p:cNvSpPr/>
          <p:nvPr/>
        </p:nvSpPr>
        <p:spPr>
          <a:xfrm>
            <a:off x="9079992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79992" y="4032504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79992" y="4379976"/>
            <a:ext cx="22037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Post-flight analytics tune the model turn over turn.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HACK 2.0  |  PROGRAM MANAGEMENT TRACK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856232" cy="329184"/>
          </a:xfrm>
          <a:prstGeom prst="roundRect">
            <a:avLst>
              <a:gd name="adj" fmla="val 50000"/>
            </a:avLst>
          </a:prstGeom>
          <a:solidFill>
            <a:srgbClr val="F2A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856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Governance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FD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phased, hybrid-agile delivery model with a dedicated steering layer to manage cross-functional dependencies across IT, Ground Ops, and Safety.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7589520" cy="868680"/>
          </a:xfrm>
          <a:prstGeom prst="roundRect">
            <a:avLst>
              <a:gd name="adj" fmla="val 8421"/>
            </a:avLst>
          </a:prstGeom>
          <a:solidFill>
            <a:srgbClr val="10294D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2624328"/>
            <a:ext cx="274320" cy="274320"/>
          </a:xfrm>
          <a:prstGeom prst="ellipse">
            <a:avLst/>
          </a:prstGeom>
          <a:solidFill>
            <a:srgbClr val="F2A22C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Steering Committee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788920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D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Ops, VP IT, Program Sponsor — monthly gate reviews &amp; risk escalation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7589520" cy="868680"/>
          </a:xfrm>
          <a:prstGeom prst="roundRect">
            <a:avLst>
              <a:gd name="adj" fmla="val 8421"/>
            </a:avLst>
          </a:prstGeom>
          <a:solidFill>
            <a:srgbClr val="10294D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3675888"/>
            <a:ext cx="274320" cy="27432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Management Office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840480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D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Cross-track planning, RAID log, budget &amp; benefits tracking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7589520" cy="868680"/>
          </a:xfrm>
          <a:prstGeom prst="roundRect">
            <a:avLst>
              <a:gd name="adj" fmla="val 8421"/>
            </a:avLst>
          </a:prstGeom>
          <a:solidFill>
            <a:srgbClr val="10294D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4727448"/>
            <a:ext cx="274320" cy="274320"/>
          </a:xfrm>
          <a:prstGeom prst="ellipse">
            <a:avLst/>
          </a:prstGeom>
          <a:solidFill>
            <a:srgbClr val="AFD7F5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526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Squads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892040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D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 · ML · Dashboard UX · Ground Ops Integration — 2-week sprints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66760" y="914400"/>
            <a:ext cx="3337560" cy="5029200"/>
          </a:xfrm>
          <a:prstGeom prst="roundRect">
            <a:avLst>
              <a:gd name="adj" fmla="val 2740"/>
            </a:avLst>
          </a:prstGeom>
          <a:solidFill>
            <a:srgbClr val="10294D"/>
          </a:solidFill>
          <a:ln/>
        </p:spPr>
      </p:sp>
      <p:sp>
        <p:nvSpPr>
          <p:cNvPr id="19" name="Text 17"/>
          <p:cNvSpPr/>
          <p:nvPr/>
        </p:nvSpPr>
        <p:spPr>
          <a:xfrm>
            <a:off x="8595360" y="1143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CADENCE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95360" y="1600200"/>
            <a:ext cx="256032" cy="256032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0" y="16002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61120" y="15544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&amp; data audit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714232" y="1856232"/>
            <a:ext cx="0" cy="384048"/>
          </a:xfrm>
          <a:prstGeom prst="line">
            <a:avLst/>
          </a:prstGeom>
          <a:noFill/>
          <a:ln w="15875">
            <a:solidFill>
              <a:srgbClr val="2E86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95360" y="2286000"/>
            <a:ext cx="256032" cy="256032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25" name="Text 23"/>
          <p:cNvSpPr/>
          <p:nvPr/>
        </p:nvSpPr>
        <p:spPr>
          <a:xfrm>
            <a:off x="8595360" y="22860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961120" y="22402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dashboard (1 hub)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14232" y="2542032"/>
            <a:ext cx="0" cy="384048"/>
          </a:xfrm>
          <a:prstGeom prst="line">
            <a:avLst/>
          </a:prstGeom>
          <a:noFill/>
          <a:ln w="15875">
            <a:solidFill>
              <a:srgbClr val="2E86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95360" y="2971800"/>
            <a:ext cx="256032" cy="256032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29" name="Text 27"/>
          <p:cNvSpPr/>
          <p:nvPr/>
        </p:nvSpPr>
        <p:spPr>
          <a:xfrm>
            <a:off x="8595360" y="29718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61120" y="2926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model pilot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714232" y="3227832"/>
            <a:ext cx="0" cy="384048"/>
          </a:xfrm>
          <a:prstGeom prst="line">
            <a:avLst/>
          </a:prstGeom>
          <a:noFill/>
          <a:ln w="15875">
            <a:solidFill>
              <a:srgbClr val="2E86D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95360" y="3657600"/>
            <a:ext cx="256032" cy="256032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33" name="Text 31"/>
          <p:cNvSpPr/>
          <p:nvPr/>
        </p:nvSpPr>
        <p:spPr>
          <a:xfrm>
            <a:off x="8595360" y="3657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961120" y="36118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Network-wide rollout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714232" y="3913632"/>
            <a:ext cx="0" cy="384048"/>
          </a:xfrm>
          <a:prstGeom prst="line">
            <a:avLst/>
          </a:prstGeom>
          <a:noFill/>
          <a:ln w="15875">
            <a:solidFill>
              <a:srgbClr val="2E86D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95360" y="4343400"/>
            <a:ext cx="256032" cy="256032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37" name="Text 35"/>
          <p:cNvSpPr/>
          <p:nvPr/>
        </p:nvSpPr>
        <p:spPr>
          <a:xfrm>
            <a:off x="8595360" y="43434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961120" y="42976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Hypercare &amp; optimize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HACK 2.0  |  PROGRAM MANAGEMENT TRACK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688336" cy="329184"/>
          </a:xfrm>
          <a:prstGeom prst="roundRect">
            <a:avLst>
              <a:gd name="adj" fmla="val 50000"/>
            </a:avLst>
          </a:prstGeom>
          <a:solidFill>
            <a:srgbClr val="F2A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688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&amp; 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In, What's Out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AF7E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F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risk model for 4 metro hub airports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ground-ops dashboard (web + tablet)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crew alerting via SMS / app push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existing flight-ops data feed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Post-turnaround analytics &amp; benefits reporting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60020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FBEAE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 (Phase 1)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24028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✕"/>
            </a:pPr>
            <a:r>
              <a:rPr lang="en-US" sz="12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/ turboprop stations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✕"/>
            </a:pPr>
            <a:r>
              <a:rPr lang="en-US" sz="12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crew-scheduling system replacement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✕"/>
            </a:pPr>
            <a:r>
              <a:rPr lang="en-US" sz="12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Cargo &amp; belly-freight turnaround workflows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✕"/>
            </a:pPr>
            <a:r>
              <a:rPr lang="en-US" sz="12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ground handler contract changes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17720"/>
            <a:ext cx="50292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64545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583680" y="47548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Objective: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average turnaround overrun by 40% at pilot hubs within 2 quarters of go-live.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HACK 2.0  |  PROGRAM MANAGEMENT TRACK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80744" cy="329184"/>
          </a:xfrm>
          <a:prstGeom prst="roundRect">
            <a:avLst>
              <a:gd name="adj" fmla="val 50000"/>
            </a:avLst>
          </a:prstGeom>
          <a:solidFill>
            <a:srgbClr val="F2A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380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Timeline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phased rollout across four milestones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286000"/>
            <a:ext cx="2651760" cy="457200"/>
          </a:xfrm>
          <a:prstGeom prst="rect">
            <a:avLst/>
          </a:prstGeom>
          <a:solidFill>
            <a:srgbClr val="AFD7F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M1–M2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&amp;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Audit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682496" y="4471416"/>
            <a:ext cx="201168" cy="201168"/>
          </a:xfrm>
          <a:prstGeom prst="ellipse">
            <a:avLst/>
          </a:prstGeom>
          <a:solidFill>
            <a:srgbClr val="AFD7F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4572000"/>
            <a:ext cx="2286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337560" y="22860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/>
        </p:spPr>
      </p:sp>
      <p:sp>
        <p:nvSpPr>
          <p:cNvPr id="13" name="Shape 11"/>
          <p:cNvSpPr/>
          <p:nvPr/>
        </p:nvSpPr>
        <p:spPr>
          <a:xfrm>
            <a:off x="3337560" y="2286000"/>
            <a:ext cx="2651760" cy="45720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M3–M5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2926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Dashboard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Hub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62856" y="4471416"/>
            <a:ext cx="201168" cy="201168"/>
          </a:xfrm>
          <a:prstGeom prst="ellipse">
            <a:avLst/>
          </a:prstGeom>
          <a:solidFill>
            <a:srgbClr val="2E86D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4572000"/>
            <a:ext cx="2286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217920" y="22860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2286000"/>
            <a:ext cx="2651760" cy="4572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M6–M8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2926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Model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443216" y="4471416"/>
            <a:ext cx="201168" cy="201168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69680" y="4572000"/>
            <a:ext cx="2286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9098280" y="228600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4F7FB"/>
          </a:solidFill>
          <a:ln/>
        </p:spPr>
      </p:sp>
      <p:sp>
        <p:nvSpPr>
          <p:cNvPr id="25" name="Shape 23"/>
          <p:cNvSpPr/>
          <p:nvPr/>
        </p:nvSpPr>
        <p:spPr>
          <a:xfrm>
            <a:off x="9098280" y="2286000"/>
            <a:ext cx="2651760" cy="457200"/>
          </a:xfrm>
          <a:prstGeom prst="rect">
            <a:avLst/>
          </a:prstGeom>
          <a:solidFill>
            <a:srgbClr val="F2A22C"/>
          </a:solidFill>
          <a:ln/>
        </p:spPr>
      </p:sp>
      <p:sp>
        <p:nvSpPr>
          <p:cNvPr id="26" name="Text 24"/>
          <p:cNvSpPr/>
          <p:nvPr/>
        </p:nvSpPr>
        <p:spPr>
          <a:xfrm>
            <a:off x="909828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M9–M12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35440" y="2926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Rollout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Hypercare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0323576" y="4471416"/>
            <a:ext cx="201168" cy="201168"/>
          </a:xfrm>
          <a:prstGeom prst="ellipse">
            <a:avLst/>
          </a:prstGeom>
          <a:solidFill>
            <a:srgbClr val="F2A22C"/>
          </a:solidFill>
          <a:ln w="25400">
            <a:solidFill>
              <a:srgbClr val="FFFFFF"/>
            </a:solidFill>
            <a:prstDash val="solid"/>
          </a:ln>
        </p:spPr>
      </p:sp>
      <p:graphicFrame>
        <p:nvGraphicFramePr>
          <p:cNvPr id="29" name="Chart 0" descr=""/>
          <p:cNvGraphicFramePr/>
          <p:nvPr/>
        </p:nvGraphicFramePr>
        <p:xfrm>
          <a:off x="457200" y="4800600"/>
          <a:ext cx="1124712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HACK 2.0  |  PROGRAM MANAGEMENT TRACK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93976" cy="329184"/>
          </a:xfrm>
          <a:prstGeom prst="roundRect">
            <a:avLst>
              <a:gd name="adj" fmla="val 50000"/>
            </a:avLst>
          </a:prstGeom>
          <a:solidFill>
            <a:srgbClr val="F2A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0939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Budget Envelope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6583680" cy="3657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00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0" y="1600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0" y="1600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6583680" cy="41148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65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Manager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19659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1965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65836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377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2377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23774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6583680" cy="41148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788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Engineer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27889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2788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65836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UX Designer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3200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0" y="32004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6583680" cy="41148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611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Ops SME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0" y="36118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0" y="3611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65836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4023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/ Release Engineer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0" y="4023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0" y="40233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1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7406640" y="1554480"/>
          <a:ext cx="42976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Shape 31"/>
          <p:cNvSpPr/>
          <p:nvPr/>
        </p:nvSpPr>
        <p:spPr>
          <a:xfrm>
            <a:off x="7406640" y="4572000"/>
            <a:ext cx="4297680" cy="1508760"/>
          </a:xfrm>
          <a:prstGeom prst="roundRect">
            <a:avLst>
              <a:gd name="adj" fmla="val 4848"/>
            </a:avLst>
          </a:prstGeom>
          <a:solidFill>
            <a:srgbClr val="F4F7FB"/>
          </a:solidFill>
          <a:ln/>
        </p:spPr>
      </p:sp>
      <p:sp>
        <p:nvSpPr>
          <p:cNvPr id="35" name="Text 32"/>
          <p:cNvSpPr/>
          <p:nvPr/>
        </p:nvSpPr>
        <p:spPr>
          <a:xfrm>
            <a:off x="7589520" y="470916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Program Budget
</a:t>
            </a:r>
            <a:pPr indent="0" marL="0">
              <a:buNone/>
            </a:pPr>
            <a:r>
              <a:rPr lang="en-US" sz="24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₹4.8 Cr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over 12 months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HACK 2.0  |  PROGRAM MANAGEMENT TRACK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F2A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 Risks &amp; Mitigations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82296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810512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810512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00200" y="17373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Ground-ops data feeds are inconsistent across hubs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1783080"/>
            <a:ext cx="0" cy="64008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7373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F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2-week data-quality audit before MVP build begins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11247120" cy="82296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2770632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F2A22C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770632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00200" y="26974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Frontline crew adoption resistance to a new app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2743200"/>
            <a:ext cx="0" cy="64008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6974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F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Co-design UI with ground crews; phased hub-by-hub rollout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11247120" cy="82296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730752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F2A22C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730752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00200" y="36576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false-positive alerts erode trust early 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3703320"/>
            <a:ext cx="0" cy="64008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6576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F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review during first 60 days of pilot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4690872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690872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00200" y="46177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delay with legacy flight-ops system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0" y="4663440"/>
            <a:ext cx="0" cy="64008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46177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F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IT integration slot in sprint 1; API contract signed upfront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HACK 2.0  |  PROGRAM MANAGEMENT TRACK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F2A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We'll Measure Success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0294D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11680"/>
            <a:ext cx="146304" cy="146304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2402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avg.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turnaround overrun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7830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0294D"/>
          </a:solidFill>
          <a:ln/>
        </p:spPr>
      </p:sp>
      <p:sp>
        <p:nvSpPr>
          <p:cNvPr id="10" name="Shape 8"/>
          <p:cNvSpPr/>
          <p:nvPr/>
        </p:nvSpPr>
        <p:spPr>
          <a:xfrm>
            <a:off x="3520440" y="2011680"/>
            <a:ext cx="146304" cy="146304"/>
          </a:xfrm>
          <a:prstGeom prst="ellipse">
            <a:avLst/>
          </a:prstGeom>
          <a:solidFill>
            <a:srgbClr val="F2A22C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22402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₹3.1 Cr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20440" y="28346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annual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delay-cost savings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7830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0294D"/>
          </a:solidFill>
          <a:ln/>
        </p:spPr>
      </p:sp>
      <p:sp>
        <p:nvSpPr>
          <p:cNvPr id="14" name="Shape 12"/>
          <p:cNvSpPr/>
          <p:nvPr/>
        </p:nvSpPr>
        <p:spPr>
          <a:xfrm>
            <a:off x="6355080" y="2011680"/>
            <a:ext cx="146304" cy="146304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22402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355080" y="28346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 alert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acknowledgement rate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61120" y="17830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0294D"/>
          </a:solidFill>
          <a:ln/>
        </p:spPr>
      </p:sp>
      <p:sp>
        <p:nvSpPr>
          <p:cNvPr id="18" name="Shape 16"/>
          <p:cNvSpPr/>
          <p:nvPr/>
        </p:nvSpPr>
        <p:spPr>
          <a:xfrm>
            <a:off x="9189720" y="2011680"/>
            <a:ext cx="146304" cy="146304"/>
          </a:xfrm>
          <a:prstGeom prst="ellipse">
            <a:avLst/>
          </a:prstGeom>
          <a:solidFill>
            <a:srgbClr val="AFD7F5"/>
          </a:solidFill>
          <a:ln/>
        </p:spPr>
      </p:sp>
      <p:sp>
        <p:nvSpPr>
          <p:cNvPr id="19" name="Text 17"/>
          <p:cNvSpPr/>
          <p:nvPr/>
        </p:nvSpPr>
        <p:spPr>
          <a:xfrm>
            <a:off x="9189720" y="22402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FD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&lt;15 min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189720" y="283464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prediction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PILOT-PHASE TRACKING CADENCE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11247120" cy="457200"/>
          </a:xfrm>
          <a:prstGeom prst="rect">
            <a:avLst/>
          </a:prstGeom>
          <a:solidFill>
            <a:srgbClr val="10294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434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FD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77440" y="4434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dashboard review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23760" y="44348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D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Manager + Ground Ops Lead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892040"/>
            <a:ext cx="11247120" cy="4572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892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FD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77440" y="4892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Steering committee readout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23760" y="48920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D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+ Sponsors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349240"/>
            <a:ext cx="11247120" cy="457200"/>
          </a:xfrm>
          <a:prstGeom prst="rect">
            <a:avLst/>
          </a:prstGeom>
          <a:solidFill>
            <a:srgbClr val="10294D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349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FD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377440" y="5349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realization audit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23760" y="5349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D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+ PMO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HACK 2.0  |  PROGRAM MANAGEMENT TRACK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80744" cy="329184"/>
          </a:xfrm>
          <a:prstGeom prst="roundRect">
            <a:avLst>
              <a:gd name="adj" fmla="val 50000"/>
            </a:avLst>
          </a:prstGeom>
          <a:solidFill>
            <a:srgbClr val="F2A2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380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to Move Forward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858000" cy="868680"/>
          </a:xfrm>
          <a:prstGeom prst="roundRect">
            <a:avLst>
              <a:gd name="adj" fmla="val 8421"/>
            </a:avLst>
          </a:prstGeom>
          <a:solidFill>
            <a:srgbClr val="F4F7FB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" y="1911096"/>
            <a:ext cx="420624" cy="420624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9110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7830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Sponsorship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34440" y="2112264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sponsor from Ground Ops to co-chair steering committee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6858000" cy="868680"/>
          </a:xfrm>
          <a:prstGeom prst="roundRect">
            <a:avLst>
              <a:gd name="adj" fmla="val 8421"/>
            </a:avLst>
          </a:prstGeom>
          <a:solidFill>
            <a:srgbClr val="F4F7FB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2916936"/>
            <a:ext cx="420624" cy="420624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9169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7889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Budget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34440" y="3118104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₹40L discovery-phase budget to fund data audit + MVP build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6858000" cy="868680"/>
          </a:xfrm>
          <a:prstGeom prst="roundRect">
            <a:avLst>
              <a:gd name="adj" fmla="val 8421"/>
            </a:avLst>
          </a:prstGeom>
          <a:solidFill>
            <a:srgbClr val="F4F7FB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" y="3922776"/>
            <a:ext cx="420624" cy="420624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9227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37947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Hub Access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34440" y="4123944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to pilot at one metro hub for 90 days starting Q4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709160"/>
            <a:ext cx="6858000" cy="868680"/>
          </a:xfrm>
          <a:prstGeom prst="roundRect">
            <a:avLst>
              <a:gd name="adj" fmla="val 8421"/>
            </a:avLst>
          </a:prstGeom>
          <a:solidFill>
            <a:srgbClr val="F4F7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" y="4928616"/>
            <a:ext cx="420624" cy="420624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49286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48006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234440" y="5129784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access to live flight-ops and ground-crew scheduling feeds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80960" y="1691640"/>
            <a:ext cx="4023360" cy="4023360"/>
          </a:xfrm>
          <a:prstGeom prst="roundRect">
            <a:avLst>
              <a:gd name="adj" fmla="val 2273"/>
            </a:avLst>
          </a:prstGeom>
          <a:solidFill>
            <a:srgbClr val="0B1F3A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2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955280" y="23774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pilot this at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hub next quarter.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955280" y="32461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FD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LEAD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955280" y="34838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Management Team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955280" y="38130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FD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955280" y="405079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Management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955280" y="43799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FD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955280" y="4617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Hack 2.0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955280" y="5285232"/>
            <a:ext cx="3474720" cy="384048"/>
          </a:xfrm>
          <a:prstGeom prst="roundRect">
            <a:avLst>
              <a:gd name="adj" fmla="val 19048"/>
            </a:avLst>
          </a:prstGeom>
          <a:solidFill>
            <a:srgbClr val="F2A22C"/>
          </a:solidFill>
          <a:ln/>
        </p:spPr>
      </p:sp>
      <p:sp>
        <p:nvSpPr>
          <p:cNvPr id="35" name="Text 33"/>
          <p:cNvSpPr/>
          <p:nvPr/>
        </p:nvSpPr>
        <p:spPr>
          <a:xfrm>
            <a:off x="7955280" y="528523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HACK 2.0  |  PROGRAM MANAGEMENT TRACK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2026-08-09T07:24:46Z</dcterms:created>
  <dcterms:modified xsi:type="dcterms:W3CDTF">2026-08-09T07:24:46Z</dcterms:modified>
</cp:coreProperties>
</file>